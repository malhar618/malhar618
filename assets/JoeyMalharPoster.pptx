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9" r:id="rId2"/>
  </p:sldIdLst>
  <p:sldSz cx="36576000" cy="292608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216" userDrawn="1">
          <p15:clr>
            <a:srgbClr val="747775"/>
          </p15:clr>
        </p15:guide>
        <p15:guide id="2" pos="11520" userDrawn="1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hPCMK4swKOlHYJ5t82tOlhHIK+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97AF"/>
    <a:srgbClr val="8E2344"/>
    <a:srgbClr val="F9DCC7"/>
    <a:srgbClr val="F4BB90"/>
    <a:srgbClr val="CDCDCD"/>
    <a:srgbClr val="75787B"/>
    <a:srgbClr val="FDF2E9"/>
    <a:srgbClr val="E877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6579C-32CE-7518-B166-7336589CD0E4}" v="827" dt="2026-04-22T19:06:45.069"/>
    <p1510:client id="{2E259479-59CA-5734-4C20-B2ADAECEB86C}" v="444" dt="2026-04-22T16:16:26.078"/>
    <p1510:client id="{476B4F35-EBA1-91E0-78F8-2EE900BECDA5}" v="216" dt="2026-04-22T16:50:40.908"/>
    <p1510:client id="{5C780AFB-D1FC-BBE3-3B51-B67EBA75ADB6}" v="456" dt="2026-04-22T20:31:32.597"/>
    <p1510:client id="{8D07FEDA-4D49-6D47-BE5B-CF7AAC4D0D5C}" v="644" dt="2026-04-22T20:27:39.226"/>
    <p1510:client id="{9F4F0010-15EB-43C0-180B-7FD15D65630A}" v="103" dt="2026-04-22T19:21:54.417"/>
    <p1510:client id="{C8B6CBA5-4FFF-C616-093B-C25B0F320E83}" v="33" dt="2026-04-22T16:42:04.692"/>
    <p1510:client id="{F3E58275-29EA-4BD5-AEB8-56EA152D14D2}" v="220" dt="2026-04-22T20:32:30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26" d="100"/>
          <a:sy n="26" d="100"/>
        </p:scale>
        <p:origin x="1864" y="344"/>
      </p:cViewPr>
      <p:guideLst>
        <p:guide orient="horz" pos="9216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645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0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9FE6EB-DA15-4019-B271-575B4BA4BAE1}"/>
              </a:ext>
            </a:extLst>
          </p:cNvPr>
          <p:cNvSpPr/>
          <p:nvPr userDrawn="1"/>
        </p:nvSpPr>
        <p:spPr>
          <a:xfrm>
            <a:off x="0" y="0"/>
            <a:ext cx="36576000" cy="29260800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CA0CA-F6F3-4B1D-919C-1A084E0A604A}"/>
              </a:ext>
            </a:extLst>
          </p:cNvPr>
          <p:cNvSpPr/>
          <p:nvPr userDrawn="1"/>
        </p:nvSpPr>
        <p:spPr>
          <a:xfrm flipV="1">
            <a:off x="435292" y="3990599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B97F3-B854-4AEF-987D-293A1980196C}"/>
              </a:ext>
            </a:extLst>
          </p:cNvPr>
          <p:cNvSpPr/>
          <p:nvPr userDrawn="1"/>
        </p:nvSpPr>
        <p:spPr>
          <a:xfrm flipH="1" flipV="1">
            <a:off x="18595380" y="3990599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9960F-4F48-4E20-98FE-3D4766ADA8CD}"/>
              </a:ext>
            </a:extLst>
          </p:cNvPr>
          <p:cNvSpPr/>
          <p:nvPr userDrawn="1"/>
        </p:nvSpPr>
        <p:spPr>
          <a:xfrm>
            <a:off x="446683" y="16339110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5B240-2D31-4FCF-9BB3-7D208C8B3EA9}"/>
              </a:ext>
            </a:extLst>
          </p:cNvPr>
          <p:cNvSpPr/>
          <p:nvPr userDrawn="1"/>
        </p:nvSpPr>
        <p:spPr>
          <a:xfrm flipH="1">
            <a:off x="18595379" y="16339110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Google Shape;60;p2">
            <a:extLst>
              <a:ext uri="{FF2B5EF4-FFF2-40B4-BE49-F238E27FC236}">
                <a16:creationId xmlns:a16="http://schemas.microsoft.com/office/drawing/2014/main" id="{F7BF4BB8-DBE4-487C-B4C1-29E3AC1D6371}"/>
              </a:ext>
            </a:extLst>
          </p:cNvPr>
          <p:cNvSpPr txBox="1"/>
          <p:nvPr userDrawn="1"/>
        </p:nvSpPr>
        <p:spPr>
          <a:xfrm>
            <a:off x="3963988" y="28085215"/>
            <a:ext cx="8578800" cy="123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00" tIns="365700" rIns="365700" bIns="365700" anchor="t" anchorCtr="0">
            <a:spAutoFit/>
          </a:bodyPr>
          <a:lstStyle/>
          <a:p>
            <a:pPr>
              <a:buSzPts val="800"/>
            </a:pPr>
            <a:r>
              <a:rPr lang="en" sz="3200">
                <a:solidFill>
                  <a:srgbClr val="75787B"/>
                </a:solidFill>
              </a:rPr>
              <a:t>CAAMS proprietary information</a:t>
            </a:r>
            <a:endParaRPr sz="3200">
              <a:solidFill>
                <a:srgbClr val="75787B"/>
              </a:solidFill>
            </a:endParaRPr>
          </a:p>
        </p:txBody>
      </p:sp>
      <p:pic>
        <p:nvPicPr>
          <p:cNvPr id="14" name="Google Shape;57;p2">
            <a:extLst>
              <a:ext uri="{FF2B5EF4-FFF2-40B4-BE49-F238E27FC236}">
                <a16:creationId xmlns:a16="http://schemas.microsoft.com/office/drawing/2014/main" id="{BBFB5B21-0C48-4E51-A00B-FA31F8A7B0F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1524100" y="26209800"/>
            <a:ext cx="4197900" cy="310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B04554C-2528-4115-BB0C-434125617C6B}"/>
              </a:ext>
            </a:extLst>
          </p:cNvPr>
          <p:cNvCxnSpPr/>
          <p:nvPr userDrawn="1"/>
        </p:nvCxnSpPr>
        <p:spPr>
          <a:xfrm>
            <a:off x="797852" y="28116718"/>
            <a:ext cx="3210570" cy="0"/>
          </a:xfrm>
          <a:prstGeom prst="line">
            <a:avLst/>
          </a:prstGeom>
          <a:ln w="3810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National Science Foundation - Wikipedia">
            <a:extLst>
              <a:ext uri="{FF2B5EF4-FFF2-40B4-BE49-F238E27FC236}">
                <a16:creationId xmlns:a16="http://schemas.microsoft.com/office/drawing/2014/main" id="{EDA543A6-AB7F-40AE-840C-8BE7DAE6AA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36" y="26156807"/>
            <a:ext cx="3189085" cy="320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BCE854-A126-4086-86BB-0BCFF79774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432361" y="782208"/>
            <a:ext cx="5809490" cy="24415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>
            <a:spLocks noGrp="1"/>
          </p:cNvSpPr>
          <p:nvPr>
            <p:ph type="title"/>
          </p:nvPr>
        </p:nvSpPr>
        <p:spPr>
          <a:xfrm>
            <a:off x="1246800" y="2531698"/>
            <a:ext cx="34082400" cy="325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1246800" y="6556302"/>
            <a:ext cx="34082400" cy="1943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828800" lvl="0" indent="-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3657600" lvl="1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5486400" lvl="2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7315200" lvl="3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9144000" lvl="4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0972800" lvl="5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2801600" lvl="6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14630400" lvl="7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6459200" lvl="8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1246800" y="12235947"/>
            <a:ext cx="34082400" cy="4788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44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106" y="24247185"/>
            <a:ext cx="3925004" cy="413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1246800" y="2531698"/>
            <a:ext cx="34082400" cy="325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1246800" y="6556302"/>
            <a:ext cx="15999600" cy="1943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828800" lvl="0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5600"/>
            </a:lvl1pPr>
            <a:lvl2pPr marL="3657600" lvl="1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2pPr>
            <a:lvl3pPr marL="5486400" lvl="2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3pPr>
            <a:lvl4pPr marL="7315200" lvl="3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4pPr>
            <a:lvl5pPr marL="9144000" lvl="4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5pPr>
            <a:lvl6pPr marL="10972800" lvl="5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6pPr>
            <a:lvl7pPr marL="12801600" lvl="6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7pPr>
            <a:lvl8pPr marL="14630400" lvl="7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8pPr>
            <a:lvl9pPr marL="16459200" lvl="8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body" idx="2"/>
          </p:nvPr>
        </p:nvSpPr>
        <p:spPr>
          <a:xfrm>
            <a:off x="19329600" y="6556302"/>
            <a:ext cx="15999600" cy="1943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828800" lvl="0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5600"/>
            </a:lvl1pPr>
            <a:lvl2pPr marL="3657600" lvl="1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2pPr>
            <a:lvl3pPr marL="5486400" lvl="2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3pPr>
            <a:lvl4pPr marL="7315200" lvl="3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4pPr>
            <a:lvl5pPr marL="9144000" lvl="4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5pPr>
            <a:lvl6pPr marL="10972800" lvl="5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6pPr>
            <a:lvl7pPr marL="12801600" lvl="6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7pPr>
            <a:lvl8pPr marL="14630400" lvl="7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8pPr>
            <a:lvl9pPr marL="16459200" lvl="8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1246800" y="2531698"/>
            <a:ext cx="34082400" cy="325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1246800" y="3160747"/>
            <a:ext cx="11232000" cy="429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96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1246800" y="7905280"/>
            <a:ext cx="11232000" cy="1808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828800" lvl="0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1pPr>
            <a:lvl2pPr marL="3657600" lvl="1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2pPr>
            <a:lvl3pPr marL="5486400" lvl="2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3pPr>
            <a:lvl4pPr marL="7315200" lvl="3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4pPr>
            <a:lvl5pPr marL="9144000" lvl="4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5pPr>
            <a:lvl6pPr marL="10972800" lvl="5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6pPr>
            <a:lvl7pPr marL="12801600" lvl="6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800"/>
            </a:lvl7pPr>
            <a:lvl8pPr marL="14630400" lvl="7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800"/>
            </a:lvl8pPr>
            <a:lvl9pPr marL="16459200" lvl="8" indent="-1219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800"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1961000" y="2560853"/>
            <a:ext cx="25471200" cy="2327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92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/>
          <p:nvPr/>
        </p:nvSpPr>
        <p:spPr>
          <a:xfrm>
            <a:off x="18288000" y="-711"/>
            <a:ext cx="18288000" cy="2926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65700" tIns="365700" rIns="365700" bIns="36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5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1062000" y="7015396"/>
            <a:ext cx="16180800" cy="843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68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ubTitle" idx="1"/>
          </p:nvPr>
        </p:nvSpPr>
        <p:spPr>
          <a:xfrm>
            <a:off x="1062000" y="15946382"/>
            <a:ext cx="16180800" cy="702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8400"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19758000" y="4119182"/>
            <a:ext cx="15348000" cy="2102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1828800" lvl="0" indent="-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3657600" lvl="1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5486400" lvl="2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7315200" lvl="3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9144000" lvl="4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0972800" lvl="5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2801600" lvl="6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14630400" lvl="7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6459200" lvl="8" indent="-127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1246800" y="24067271"/>
            <a:ext cx="23995200" cy="344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1828800" lvl="0" indent="-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 hasCustomPrompt="1"/>
          </p:nvPr>
        </p:nvSpPr>
        <p:spPr>
          <a:xfrm>
            <a:off x="1246800" y="6292622"/>
            <a:ext cx="34082400" cy="1117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0"/>
            </a:lvl9pPr>
          </a:lstStyle>
          <a:p>
            <a:r>
              <a:t>xx%</a:t>
            </a:r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1"/>
          </p:nvPr>
        </p:nvSpPr>
        <p:spPr>
          <a:xfrm>
            <a:off x="1246800" y="17932658"/>
            <a:ext cx="34082400" cy="74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828800" lvl="0" indent="-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3657600" lvl="1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5486400" lvl="2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7315200" lvl="3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9144000" lvl="4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0972800" lvl="5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2801600" lvl="6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14630400" lvl="7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6459200" lvl="8" indent="-1270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46800" y="2531698"/>
            <a:ext cx="34082400" cy="325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46800" y="6556302"/>
            <a:ext cx="34082400" cy="1943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33889832" y="26528523"/>
            <a:ext cx="2194800" cy="22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BG Gray"/>
          <p:cNvSpPr/>
          <p:nvPr/>
        </p:nvSpPr>
        <p:spPr>
          <a:xfrm>
            <a:off x="0" y="-819"/>
            <a:ext cx="36576000" cy="29339247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nel"/>
          <p:cNvSpPr/>
          <p:nvPr/>
        </p:nvSpPr>
        <p:spPr>
          <a:xfrm flipV="1">
            <a:off x="382094" y="3990599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lIns="91440" tIns="45720" rIns="91440" bIns="45720" anchor="ctr"/>
          <a:lstStyle/>
          <a:p>
            <a:endParaRPr lang="en-US"/>
          </a:p>
        </p:txBody>
      </p:sp>
      <p:sp>
        <p:nvSpPr>
          <p:cNvPr id="114" name="Panel"/>
          <p:cNvSpPr/>
          <p:nvPr/>
        </p:nvSpPr>
        <p:spPr>
          <a:xfrm flipH="1" flipV="1">
            <a:off x="18595380" y="3990599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115" name="Panel"/>
          <p:cNvSpPr/>
          <p:nvPr/>
        </p:nvSpPr>
        <p:spPr>
          <a:xfrm>
            <a:off x="446683" y="16339110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116" name="Panel"/>
          <p:cNvSpPr/>
          <p:nvPr/>
        </p:nvSpPr>
        <p:spPr>
          <a:xfrm flipH="1">
            <a:off x="18595379" y="16339110"/>
            <a:ext cx="17559935" cy="11772374"/>
          </a:xfrm>
          <a:prstGeom prst="rect">
            <a:avLst/>
          </a:prstGeom>
          <a:gradFill flip="none" rotWithShape="1">
            <a:gsLst>
              <a:gs pos="0">
                <a:srgbClr val="F4BB90"/>
              </a:gs>
              <a:gs pos="50000">
                <a:srgbClr val="F9DCC7"/>
              </a:gs>
              <a:gs pos="100000">
                <a:srgbClr val="FDF2E9"/>
              </a:gs>
            </a:gsLst>
            <a:lin ang="8100000" scaled="1"/>
            <a:tileRect/>
          </a:gradFill>
          <a:ln w="28575" cap="flat" cmpd="sng" algn="ctr">
            <a:solidFill>
              <a:srgbClr val="75787B"/>
            </a:solidFill>
            <a:prstDash val="solid"/>
            <a:miter lim="800000"/>
          </a:ln>
          <a:effectLst/>
        </p:spPr>
        <p:txBody>
          <a:bodyPr anchor="ctr"/>
          <a:lstStyle/>
          <a:p>
            <a:endParaRPr lang="en-US"/>
          </a:p>
        </p:txBody>
      </p:sp>
      <p:pic>
        <p:nvPicPr>
          <p:cNvPr id="117" name="V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5679" y="803589"/>
            <a:ext cx="5809490" cy="244155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4C8588-753D-5175-F0F7-067D9B47A6F2}"/>
              </a:ext>
            </a:extLst>
          </p:cNvPr>
          <p:cNvSpPr/>
          <p:nvPr/>
        </p:nvSpPr>
        <p:spPr>
          <a:xfrm>
            <a:off x="18781613" y="17521084"/>
            <a:ext cx="8572386" cy="646544"/>
          </a:xfrm>
          <a:prstGeom prst="roundRect">
            <a:avLst/>
          </a:prstGeom>
          <a:solidFill>
            <a:srgbClr val="8E2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C9C8C5-67D9-C75E-7A15-DCA7924BCF96}"/>
              </a:ext>
            </a:extLst>
          </p:cNvPr>
          <p:cNvSpPr/>
          <p:nvPr/>
        </p:nvSpPr>
        <p:spPr>
          <a:xfrm>
            <a:off x="18774419" y="18580272"/>
            <a:ext cx="8572386" cy="2621841"/>
          </a:xfrm>
          <a:prstGeom prst="roundRect">
            <a:avLst/>
          </a:prstGeom>
          <a:solidFill>
            <a:srgbClr val="8E2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20E1B2-02EE-7B77-0FC0-4C71CC1DF61C}"/>
              </a:ext>
            </a:extLst>
          </p:cNvPr>
          <p:cNvSpPr/>
          <p:nvPr/>
        </p:nvSpPr>
        <p:spPr>
          <a:xfrm>
            <a:off x="18766560" y="21643442"/>
            <a:ext cx="4098918" cy="3436684"/>
          </a:xfrm>
          <a:prstGeom prst="roundRect">
            <a:avLst/>
          </a:prstGeom>
          <a:solidFill>
            <a:srgbClr val="8E2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933254-3E90-9F26-CFA9-8A0B47BA691B}"/>
              </a:ext>
            </a:extLst>
          </p:cNvPr>
          <p:cNvSpPr/>
          <p:nvPr/>
        </p:nvSpPr>
        <p:spPr>
          <a:xfrm>
            <a:off x="23309203" y="21643442"/>
            <a:ext cx="4037602" cy="3436684"/>
          </a:xfrm>
          <a:prstGeom prst="roundRect">
            <a:avLst/>
          </a:prstGeom>
          <a:solidFill>
            <a:srgbClr val="8E2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680745-99A8-B4CC-DEF5-FC580B79E35D}"/>
              </a:ext>
            </a:extLst>
          </p:cNvPr>
          <p:cNvSpPr/>
          <p:nvPr/>
        </p:nvSpPr>
        <p:spPr>
          <a:xfrm>
            <a:off x="18781613" y="25478510"/>
            <a:ext cx="8572386" cy="1003575"/>
          </a:xfrm>
          <a:prstGeom prst="roundRect">
            <a:avLst/>
          </a:prstGeom>
          <a:solidFill>
            <a:srgbClr val="8E2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3000" b="1">
                <a:solidFill>
                  <a:srgbClr val="F9DCC7"/>
                </a:solidFill>
                <a:latin typeface="Arial"/>
                <a:cs typeface="Arial"/>
              </a:rPr>
              <a:t>Incorporate into Kalman Filter</a:t>
            </a:r>
            <a:endParaRPr kumimoji="0" lang="en-US" sz="3000" b="1" i="0" u="none" strike="noStrike" kern="0" cap="none" spc="0" normalizeH="0" baseline="0" noProof="0">
              <a:ln>
                <a:noFill/>
              </a:ln>
              <a:solidFill>
                <a:srgbClr val="F9DCC7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6AFCA7-2D95-CFB3-706E-998E6CEE465F}"/>
              </a:ext>
            </a:extLst>
          </p:cNvPr>
          <p:cNvSpPr/>
          <p:nvPr/>
        </p:nvSpPr>
        <p:spPr>
          <a:xfrm>
            <a:off x="18781613" y="26899528"/>
            <a:ext cx="8572386" cy="682977"/>
          </a:xfrm>
          <a:prstGeom prst="roundRect">
            <a:avLst/>
          </a:prstGeom>
          <a:solidFill>
            <a:srgbClr val="8E2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55;p2">
            <a:extLst>
              <a:ext uri="{FF2B5EF4-FFF2-40B4-BE49-F238E27FC236}">
                <a16:creationId xmlns:a16="http://schemas.microsoft.com/office/drawing/2014/main" id="{6282FF51-0796-E06A-3003-F8CC5A8258BF}"/>
              </a:ext>
            </a:extLst>
          </p:cNvPr>
          <p:cNvSpPr txBox="1"/>
          <p:nvPr/>
        </p:nvSpPr>
        <p:spPr>
          <a:xfrm>
            <a:off x="72893" y="110750"/>
            <a:ext cx="18215107" cy="3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00" tIns="182800" rIns="365700" bIns="182800" anchor="ctr" anchorCtr="0">
            <a:normAutofit/>
          </a:bodyPr>
          <a:lstStyle/>
          <a:p>
            <a:pPr>
              <a:buSzPts val="4400"/>
            </a:pPr>
            <a:r>
              <a:rPr lang="en-US" b="1"/>
              <a:t>Resilient Collaborative Navigation Using Intervehicle Ultra-Wideband Ranging in GNSS-Degraded Environments</a:t>
            </a:r>
            <a:endParaRPr lang="en-US" sz="17600" b="1">
              <a:solidFill>
                <a:schemeClr val="dk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19" name="Google Shape;56;p2">
            <a:extLst>
              <a:ext uri="{FF2B5EF4-FFF2-40B4-BE49-F238E27FC236}">
                <a16:creationId xmlns:a16="http://schemas.microsoft.com/office/drawing/2014/main" id="{505B797A-E7B2-CDEC-8B9E-63D558CB95E6}"/>
              </a:ext>
            </a:extLst>
          </p:cNvPr>
          <p:cNvSpPr txBox="1"/>
          <p:nvPr/>
        </p:nvSpPr>
        <p:spPr>
          <a:xfrm>
            <a:off x="19735800" y="1144701"/>
            <a:ext cx="10652600" cy="184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00" tIns="182800" rIns="365700" bIns="182800" anchor="t" anchorCtr="0">
            <a:spAutoFit/>
          </a:bodyPr>
          <a:lstStyle/>
          <a:p>
            <a:pPr>
              <a:buSzPts val="1200"/>
            </a:pPr>
            <a:r>
              <a:rPr lang="en" sz="48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Researchers: </a:t>
            </a:r>
            <a:r>
              <a:rPr lang="en-US" sz="48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J. Cahill &amp; M. Mahajan</a:t>
            </a:r>
            <a:endParaRPr sz="25804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>
              <a:buSzPts val="1200"/>
            </a:pPr>
            <a:r>
              <a:rPr lang="en" sz="48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University: </a:t>
            </a:r>
            <a:r>
              <a:rPr lang="en-US" sz="48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Virginia Tech</a:t>
            </a:r>
            <a:endParaRPr sz="4800">
              <a:solidFill>
                <a:schemeClr val="dk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21" name="Rectangle 99">
            <a:extLst>
              <a:ext uri="{FF2B5EF4-FFF2-40B4-BE49-F238E27FC236}">
                <a16:creationId xmlns:a16="http://schemas.microsoft.com/office/drawing/2014/main" id="{C16B4ED9-85B9-BE5C-C380-3510E95FE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24" y="14716125"/>
            <a:ext cx="8764444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[Tanil]      Tanil et al., “An INS Monitor to Detect GNSS Spoofers Capable of Tracking Vehicle Position,” IEEE TAES. 2018.</a:t>
            </a:r>
          </a:p>
          <a:p>
            <a:r>
              <a:rPr lang="en-US" altLang="en-US" sz="1400" b="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[Jada]       Jada et al., “Identifying Car Key Fobs as a Cause of Interference at GNSS Frequencies,” ION GNSS+ 2023.</a:t>
            </a:r>
          </a:p>
          <a:p>
            <a:r>
              <a:rPr lang="en-US" altLang="en-US" sz="1400" b="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[Hassani]    Hassani et al., “Experimental Integrity Evaluation of Tightly-Integrated IMU/LiDAR Including Return-Light Intensity Data,” ION GNSS+ 2019.</a:t>
            </a:r>
          </a:p>
          <a:p>
            <a:endParaRPr lang="en-US" altLang="en-US" sz="1400" b="0" i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Box 402">
            <a:extLst>
              <a:ext uri="{FF2B5EF4-FFF2-40B4-BE49-F238E27FC236}">
                <a16:creationId xmlns:a16="http://schemas.microsoft.com/office/drawing/2014/main" id="{2159FBD6-7A88-1DF9-6034-EF52E5978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62" y="5172054"/>
            <a:ext cx="8789639" cy="9720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28600" tIns="45267" rIns="457200" bIns="45267" anchor="t">
            <a:noAutofit/>
          </a:bodyPr>
          <a:lstStyle>
            <a:lvl1pPr marL="571500" indent="-5715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314450" indent="-4572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GNSS spoofing is an integrity threat:</a:t>
            </a:r>
            <a:r>
              <a:rPr lang="en-US" altLang="en-US" sz="3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vehicle can converge to a confident but false navigation state while tracking counterfeit satellite signals. </a:t>
            </a:r>
          </a:p>
          <a:p>
            <a:pPr lvl="2">
              <a:spcBef>
                <a:spcPct val="25000"/>
              </a:spcBef>
              <a:buFont typeface="Wingdings" pitchFamily="2" charset="2"/>
              <a:buChar char="Ø"/>
            </a:pP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Tanil et al. showed spoofing could drive INS/GNSS estimate to a 10 m error without immediate detection.</a:t>
            </a:r>
            <a:r>
              <a:rPr lang="en-US" altLang="en-US" sz="1800" b="0" baseline="30000">
                <a:solidFill>
                  <a:schemeClr val="tx1"/>
                </a:solidFill>
                <a:latin typeface="Calibri"/>
                <a:cs typeface="Calibri"/>
              </a:rPr>
              <a:t>[</a:t>
            </a:r>
            <a:r>
              <a:rPr lang="en-US" altLang="en-US" sz="1800" b="0" baseline="30000" err="1">
                <a:solidFill>
                  <a:schemeClr val="tx1"/>
                </a:solidFill>
                <a:latin typeface="Calibri"/>
                <a:cs typeface="Calibri"/>
              </a:rPr>
              <a:t>tanil</a:t>
            </a:r>
            <a:r>
              <a:rPr lang="en-US" altLang="en-US" sz="1800" b="0" baseline="30000">
                <a:solidFill>
                  <a:schemeClr val="tx1"/>
                </a:solidFill>
                <a:latin typeface="Calibri"/>
                <a:cs typeface="Calibri"/>
              </a:rPr>
              <a:t>]</a:t>
            </a:r>
          </a:p>
          <a:p>
            <a:pPr lvl="2">
              <a:spcBef>
                <a:spcPct val="25000"/>
              </a:spcBef>
              <a:buFont typeface="Wingdings" pitchFamily="2" charset="2"/>
              <a:buChar char="Ø"/>
            </a:pP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Previous work showed car key fobs can interfere near GPS L1, so GNSS vulnerability is not limited to attacks.</a:t>
            </a:r>
            <a:r>
              <a:rPr lang="en-US" altLang="en-US" sz="1800" b="0" baseline="30000">
                <a:solidFill>
                  <a:schemeClr val="tx1"/>
                </a:solidFill>
                <a:latin typeface="Calibri"/>
                <a:cs typeface="Calibri"/>
              </a:rPr>
              <a:t>[Jada]</a:t>
            </a:r>
            <a:endParaRPr lang="en-US" altLang="en-US" sz="3200" b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methods help GNSS-denied navigation, but do not fully address inter-vehicle 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ranging integrity</a:t>
            </a:r>
            <a:r>
              <a:rPr lang="en-US" altLang="en-US" sz="3200" b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2">
              <a:spcBef>
                <a:spcPct val="25000"/>
              </a:spcBef>
              <a:buFont typeface="Wingdings" pitchFamily="2" charset="2"/>
              <a:buChar char="Ø"/>
            </a:pPr>
            <a:r>
              <a:rPr lang="en-US" altLang="en-US" sz="3200" b="0">
                <a:solidFill>
                  <a:srgbClr val="000000"/>
                </a:solidFill>
                <a:latin typeface="Calibri"/>
                <a:cs typeface="Calibri"/>
              </a:rPr>
              <a:t>LiDAR/IMU can reduce drift but depends on scene features often degrading in rain/snow or fog.</a:t>
            </a:r>
            <a:r>
              <a:rPr lang="en-US" altLang="en-US" sz="1800" b="0" baseline="30000">
                <a:solidFill>
                  <a:srgbClr val="000000"/>
                </a:solidFill>
                <a:latin typeface="Calibri"/>
                <a:cs typeface="Calibri"/>
              </a:rPr>
              <a:t>[Hassani]</a:t>
            </a:r>
          </a:p>
          <a:p>
            <a:pPr lvl="2">
              <a:spcBef>
                <a:spcPct val="25000"/>
              </a:spcBef>
              <a:buFont typeface="Wingdings" pitchFamily="2" charset="2"/>
              <a:buChar char="Ø"/>
            </a:pPr>
            <a:r>
              <a:rPr lang="en-US" altLang="en-US" sz="3200" b="0">
                <a:solidFill>
                  <a:srgbClr val="000000"/>
                </a:solidFill>
                <a:latin typeface="Calibri"/>
                <a:cs typeface="Calibri"/>
              </a:rPr>
              <a:t>UWB ranging can add direct vehicle-to-vehicle constraints when GNSS degrades</a:t>
            </a:r>
            <a:endParaRPr lang="en-US" altLang="en-US" sz="3200" b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B3A4643A-2D4A-2DE2-722C-00DC6247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17" y="4149521"/>
            <a:ext cx="17561209" cy="92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0" tIns="45267" rIns="228600" bIns="45267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5400" i="1">
                <a:solidFill>
                  <a:srgbClr val="8E23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Broader Impacts and Prior Work</a:t>
            </a:r>
          </a:p>
        </p:txBody>
      </p:sp>
      <p:sp>
        <p:nvSpPr>
          <p:cNvPr id="27" name="Text Box 3">
            <a:extLst>
              <a:ext uri="{FF2B5EF4-FFF2-40B4-BE49-F238E27FC236}">
                <a16:creationId xmlns:a16="http://schemas.microsoft.com/office/drawing/2014/main" id="{976D4F9D-6877-E8B5-222C-0186D6371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5381" y="4152277"/>
            <a:ext cx="17561209" cy="92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0" tIns="45267" rIns="228600" bIns="45267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5400" i="1">
                <a:solidFill>
                  <a:srgbClr val="8E23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Objective and Proposed Approach</a:t>
            </a:r>
          </a:p>
        </p:txBody>
      </p:sp>
      <p:sp>
        <p:nvSpPr>
          <p:cNvPr id="29" name="Text Box 402">
            <a:extLst>
              <a:ext uri="{FF2B5EF4-FFF2-40B4-BE49-F238E27FC236}">
                <a16:creationId xmlns:a16="http://schemas.microsoft.com/office/drawing/2014/main" id="{9540B24B-9624-2D4A-6FC4-AC75BB2B2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3999" y="6723762"/>
            <a:ext cx="8779974" cy="9575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28600" tIns="45267" rIns="457200" bIns="45267" anchor="t">
            <a:noAutofit/>
          </a:bodyPr>
          <a:lstStyle>
            <a:lvl1pPr marL="571500" indent="-5715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314450" indent="-4572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marL="914400" lvl="2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sz="3200" b="0">
                <a:solidFill>
                  <a:srgbClr val="000000"/>
                </a:solidFill>
                <a:latin typeface="Calibri"/>
                <a:cs typeface="Calibri"/>
              </a:rPr>
              <a:t>Modify </a:t>
            </a:r>
            <a:r>
              <a:rPr lang="en-US" sz="3200">
                <a:solidFill>
                  <a:srgbClr val="000000"/>
                </a:solidFill>
                <a:latin typeface="Calibri"/>
                <a:cs typeface="Calibri"/>
              </a:rPr>
              <a:t>DWM1001C </a:t>
            </a:r>
            <a:r>
              <a:rPr lang="en-US" sz="3200" b="0">
                <a:solidFill>
                  <a:srgbClr val="000000"/>
                </a:solidFill>
                <a:latin typeface="Calibri"/>
                <a:cs typeface="Calibri"/>
              </a:rPr>
              <a:t>modules with custom SS-TWR firmware and scheduling so commercial indoor UWB hardware can support intervehicle ranging </a:t>
            </a:r>
            <a:endParaRPr lang="en-US">
              <a:latin typeface="Calibri"/>
              <a:cs typeface="Calibri"/>
            </a:endParaRPr>
          </a:p>
          <a:p>
            <a:pPr marL="914400" lvl="2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sz="3200" b="0">
                <a:solidFill>
                  <a:srgbClr val="000000"/>
                </a:solidFill>
                <a:latin typeface="Calibri"/>
                <a:cs typeface="Calibri"/>
              </a:rPr>
              <a:t>Mount multiple transceivers at known locations in each vehicle body frame so the resulting ranges provide geometric constraints on </a:t>
            </a:r>
            <a:r>
              <a:rPr lang="en-US" sz="3200">
                <a:solidFill>
                  <a:srgbClr val="000000"/>
                </a:solidFill>
                <a:latin typeface="Calibri"/>
                <a:cs typeface="Calibri"/>
              </a:rPr>
              <a:t>relative range</a:t>
            </a:r>
            <a:r>
              <a:rPr lang="en-US" sz="3200" b="0">
                <a:solidFill>
                  <a:srgbClr val="000000"/>
                </a:solidFill>
                <a:latin typeface="Calibri"/>
                <a:cs typeface="Calibri"/>
              </a:rPr>
              <a:t> and </a:t>
            </a:r>
            <a:r>
              <a:rPr lang="en-US" sz="3200">
                <a:solidFill>
                  <a:srgbClr val="000000"/>
                </a:solidFill>
                <a:latin typeface="Calibri"/>
                <a:cs typeface="Calibri"/>
              </a:rPr>
              <a:t>relative heading.</a:t>
            </a:r>
            <a:endParaRPr lang="en-US" altLang="en-US" sz="3200">
              <a:solidFill>
                <a:srgbClr val="000000"/>
              </a:solidFill>
              <a:latin typeface="Calibri"/>
              <a:cs typeface="Calibri"/>
            </a:endParaRPr>
          </a:p>
          <a:p>
            <a:pPr marL="914400" lvl="2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sz="3200" b="0">
                <a:solidFill>
                  <a:srgbClr val="000000"/>
                </a:solidFill>
                <a:latin typeface="Calibri"/>
                <a:cs typeface="Calibri"/>
              </a:rPr>
              <a:t>Characterize antenna-delay bias, multipath, and other systematic effects, then build an over-bounded error model so UWB measurements can be incorporated safely into a </a:t>
            </a:r>
            <a:r>
              <a:rPr lang="en-US" sz="3200">
                <a:solidFill>
                  <a:srgbClr val="000000"/>
                </a:solidFill>
                <a:latin typeface="Calibri"/>
                <a:cs typeface="Calibri"/>
              </a:rPr>
              <a:t>Kalman-filter</a:t>
            </a:r>
            <a:r>
              <a:rPr lang="en-US" sz="3200" b="0">
                <a:solidFill>
                  <a:srgbClr val="000000"/>
                </a:solidFill>
                <a:latin typeface="Calibri"/>
                <a:cs typeface="Calibri"/>
              </a:rPr>
              <a:t>-based navigation framework.</a:t>
            </a:r>
          </a:p>
          <a:p>
            <a:pPr marL="0" indent="0">
              <a:spcBef>
                <a:spcPct val="25000"/>
              </a:spcBef>
            </a:pPr>
            <a:endParaRPr lang="en-US" altLang="en-US" sz="32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F5BEC425-097D-5FEB-53E8-258C344BD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683" y="16508572"/>
            <a:ext cx="17559935" cy="92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0" tIns="45267" rIns="228600" bIns="45267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5400" i="1">
                <a:solidFill>
                  <a:srgbClr val="8E23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 and Preliminary Performance Analysis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D694A839-7846-176D-52E4-5A7A2D7A9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5380" y="16508427"/>
            <a:ext cx="17559935" cy="92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0" tIns="45267" rIns="228600" bIns="45267">
            <a:spAutoFit/>
          </a:bodyPr>
          <a:lstStyle>
            <a:lvl1pPr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5400" i="1">
                <a:solidFill>
                  <a:srgbClr val="8E23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 and Impact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F7C32F-1863-F839-7952-302A3AA0A447}"/>
              </a:ext>
            </a:extLst>
          </p:cNvPr>
          <p:cNvSpPr txBox="1"/>
          <p:nvPr/>
        </p:nvSpPr>
        <p:spPr>
          <a:xfrm>
            <a:off x="20358271" y="18680291"/>
            <a:ext cx="5434501" cy="553998"/>
          </a:xfrm>
          <a:prstGeom prst="rect">
            <a:avLst/>
          </a:prstGeom>
          <a:noFill/>
        </p:spPr>
        <p:txBody>
          <a:bodyPr wrap="none" lIns="45720" rtlCol="0">
            <a:noAutofit/>
          </a:bodyPr>
          <a:lstStyle/>
          <a:p>
            <a:pPr algn="ctr"/>
            <a:r>
              <a:rPr lang="en-US" sz="3000" b="1">
                <a:solidFill>
                  <a:srgbClr val="F9DCC7"/>
                </a:solidFill>
              </a:rPr>
              <a:t>Sensor modification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A12947-ECA8-739F-AC91-43238DD949DC}"/>
              </a:ext>
            </a:extLst>
          </p:cNvPr>
          <p:cNvSpPr txBox="1"/>
          <p:nvPr/>
        </p:nvSpPr>
        <p:spPr>
          <a:xfrm>
            <a:off x="19228723" y="20473944"/>
            <a:ext cx="7765596" cy="553998"/>
          </a:xfrm>
          <a:prstGeom prst="rect">
            <a:avLst/>
          </a:prstGeom>
          <a:solidFill>
            <a:srgbClr val="E597AF"/>
          </a:solidFill>
        </p:spPr>
        <p:txBody>
          <a:bodyPr wrap="square" lIns="45720" tIns="45720" rIns="91440" bIns="45720" rtlCol="0" anchor="t">
            <a:noAutofit/>
          </a:bodyPr>
          <a:lstStyle/>
          <a:p>
            <a:pPr algn="ctr"/>
            <a:r>
              <a:rPr lang="en-US" sz="3000"/>
              <a:t>Linear Calibration Model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8319B8-79CB-B89A-E726-1B860AAB4E32}"/>
              </a:ext>
            </a:extLst>
          </p:cNvPr>
          <p:cNvSpPr txBox="1"/>
          <p:nvPr/>
        </p:nvSpPr>
        <p:spPr>
          <a:xfrm>
            <a:off x="23435330" y="19509243"/>
            <a:ext cx="3558988" cy="553998"/>
          </a:xfrm>
          <a:prstGeom prst="rect">
            <a:avLst/>
          </a:prstGeom>
          <a:solidFill>
            <a:srgbClr val="E597AF"/>
          </a:solidFill>
        </p:spPr>
        <p:txBody>
          <a:bodyPr wrap="none" lIns="45720" rtlCol="0">
            <a:noAutofit/>
          </a:bodyPr>
          <a:lstStyle/>
          <a:p>
            <a:pPr algn="ctr"/>
            <a:r>
              <a:rPr lang="en-US" sz="3000"/>
              <a:t>Firmware updates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660F2F-2E98-53BC-C006-B51BBB34BEFF}"/>
              </a:ext>
            </a:extLst>
          </p:cNvPr>
          <p:cNvSpPr txBox="1"/>
          <p:nvPr/>
        </p:nvSpPr>
        <p:spPr>
          <a:xfrm>
            <a:off x="19993006" y="17553503"/>
            <a:ext cx="6269665" cy="553998"/>
          </a:xfrm>
          <a:prstGeom prst="rect">
            <a:avLst/>
          </a:prstGeom>
          <a:noFill/>
        </p:spPr>
        <p:txBody>
          <a:bodyPr wrap="none" lIns="45720" rtlCol="0">
            <a:noAutofit/>
          </a:bodyPr>
          <a:lstStyle/>
          <a:p>
            <a:pPr algn="ctr"/>
            <a:r>
              <a:rPr lang="en-US" sz="3000" b="1">
                <a:solidFill>
                  <a:srgbClr val="F9DCC7"/>
                </a:solidFill>
              </a:rPr>
              <a:t>Sensor market review and selection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A1CE98-233C-FF4A-2A0C-B1AD0136C15C}"/>
              </a:ext>
            </a:extLst>
          </p:cNvPr>
          <p:cNvSpPr txBox="1"/>
          <p:nvPr/>
        </p:nvSpPr>
        <p:spPr>
          <a:xfrm>
            <a:off x="19237992" y="19521329"/>
            <a:ext cx="3398906" cy="553998"/>
          </a:xfrm>
          <a:prstGeom prst="rect">
            <a:avLst/>
          </a:prstGeom>
          <a:solidFill>
            <a:srgbClr val="E597AF"/>
          </a:solidFill>
        </p:spPr>
        <p:txBody>
          <a:bodyPr wrap="none" lIns="45720" tIns="45720" rIns="91440" bIns="45720" rtlCol="0" anchor="t">
            <a:noAutofit/>
          </a:bodyPr>
          <a:lstStyle/>
          <a:p>
            <a:pPr algn="ctr"/>
            <a:r>
              <a:rPr lang="en-US" sz="3000"/>
              <a:t>Data collection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D70349-74F1-4B36-B456-92C156A9C620}"/>
              </a:ext>
            </a:extLst>
          </p:cNvPr>
          <p:cNvSpPr txBox="1"/>
          <p:nvPr/>
        </p:nvSpPr>
        <p:spPr>
          <a:xfrm>
            <a:off x="18785969" y="21813005"/>
            <a:ext cx="4072979" cy="1015663"/>
          </a:xfrm>
          <a:prstGeom prst="rect">
            <a:avLst/>
          </a:prstGeom>
          <a:noFill/>
        </p:spPr>
        <p:txBody>
          <a:bodyPr wrap="square" lIns="45720" tIns="45720" rIns="91440" bIns="45720" rtlCol="0" anchor="t">
            <a:noAutofit/>
          </a:bodyPr>
          <a:lstStyle/>
          <a:p>
            <a:pPr algn="ctr"/>
            <a:r>
              <a:rPr lang="en-US" sz="3000" b="1">
                <a:solidFill>
                  <a:srgbClr val="F9DCC7"/>
                </a:solidFill>
              </a:rPr>
              <a:t>Collaborative Navigation </a:t>
            </a:r>
            <a:endParaRPr lang="en-US"/>
          </a:p>
          <a:p>
            <a:pPr algn="ctr"/>
            <a:r>
              <a:rPr lang="en-US" sz="3000" b="1">
                <a:solidFill>
                  <a:srgbClr val="F9DCC7"/>
                </a:solidFill>
              </a:rPr>
              <a:t>Framework</a:t>
            </a:r>
            <a:endParaRPr lang="en-US" sz="64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321CE5-EA89-900E-3416-94BFA926F087}"/>
              </a:ext>
            </a:extLst>
          </p:cNvPr>
          <p:cNvSpPr txBox="1"/>
          <p:nvPr/>
        </p:nvSpPr>
        <p:spPr>
          <a:xfrm>
            <a:off x="23292097" y="21788833"/>
            <a:ext cx="4084529" cy="1015663"/>
          </a:xfrm>
          <a:prstGeom prst="rect">
            <a:avLst/>
          </a:prstGeom>
          <a:noFill/>
        </p:spPr>
        <p:txBody>
          <a:bodyPr wrap="square" lIns="45720" rtlCol="0">
            <a:noAutofit/>
          </a:bodyPr>
          <a:lstStyle/>
          <a:p>
            <a:pPr algn="ctr"/>
            <a:r>
              <a:rPr lang="en-US" sz="3000" b="1">
                <a:solidFill>
                  <a:srgbClr val="F9DCC7"/>
                </a:solidFill>
              </a:rPr>
              <a:t>Probabilistic UWB error modeling</a:t>
            </a:r>
          </a:p>
          <a:p>
            <a:pPr algn="ctr"/>
            <a:r>
              <a:rPr lang="en-US" sz="3000" b="1">
                <a:solidFill>
                  <a:srgbClr val="F9DCC7"/>
                </a:solidFill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3C0FC8-8C97-8F33-E502-DD3807AA8999}"/>
              </a:ext>
            </a:extLst>
          </p:cNvPr>
          <p:cNvSpPr txBox="1"/>
          <p:nvPr/>
        </p:nvSpPr>
        <p:spPr>
          <a:xfrm>
            <a:off x="20245765" y="26959627"/>
            <a:ext cx="5631670" cy="553998"/>
          </a:xfrm>
          <a:prstGeom prst="rect">
            <a:avLst/>
          </a:prstGeom>
          <a:noFill/>
        </p:spPr>
        <p:txBody>
          <a:bodyPr wrap="none" lIns="45720" rtlCol="0">
            <a:noAutofit/>
          </a:bodyPr>
          <a:lstStyle/>
          <a:p>
            <a:pPr algn="ctr"/>
            <a:r>
              <a:rPr lang="en-US" sz="3000" b="1">
                <a:solidFill>
                  <a:srgbClr val="F9DCC7"/>
                </a:solidFill>
              </a:rPr>
              <a:t>Proof of concept ground testing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D75FBC-CB21-88D0-EB2D-5B2FFDABA5BC}"/>
              </a:ext>
            </a:extLst>
          </p:cNvPr>
          <p:cNvSpPr txBox="1"/>
          <p:nvPr/>
        </p:nvSpPr>
        <p:spPr>
          <a:xfrm>
            <a:off x="19011810" y="23377009"/>
            <a:ext cx="3580604" cy="1435025"/>
          </a:xfrm>
          <a:prstGeom prst="rect">
            <a:avLst/>
          </a:prstGeom>
          <a:solidFill>
            <a:srgbClr val="E597AF"/>
          </a:solidFill>
        </p:spPr>
        <p:txBody>
          <a:bodyPr wrap="square" lIns="45720" rtlCol="0">
            <a:noAutofit/>
          </a:bodyPr>
          <a:lstStyle/>
          <a:p>
            <a:pPr algn="ctr"/>
            <a:r>
              <a:rPr lang="en-US" sz="2800"/>
              <a:t>Range + heading crosslinks</a:t>
            </a:r>
            <a:br>
              <a:rPr lang="en-US" sz="2800"/>
            </a:br>
            <a:endParaRPr lang="en-US" sz="28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48335A-D45B-2F5F-C1D7-03AF00B493A9}"/>
              </a:ext>
            </a:extLst>
          </p:cNvPr>
          <p:cNvSpPr txBox="1"/>
          <p:nvPr/>
        </p:nvSpPr>
        <p:spPr>
          <a:xfrm>
            <a:off x="23558319" y="23371243"/>
            <a:ext cx="3576442" cy="1477328"/>
          </a:xfrm>
          <a:prstGeom prst="rect">
            <a:avLst/>
          </a:prstGeom>
          <a:solidFill>
            <a:srgbClr val="E597AF"/>
          </a:solidFill>
        </p:spPr>
        <p:txBody>
          <a:bodyPr wrap="square" lIns="45720" rtlCol="0">
            <a:noAutofit/>
          </a:bodyPr>
          <a:lstStyle/>
          <a:p>
            <a:pPr algn="ctr"/>
            <a:r>
              <a:rPr lang="en-US" sz="3000"/>
              <a:t>Bias/noise characterization | </a:t>
            </a:r>
            <a:r>
              <a:rPr lang="en-US" sz="3000" err="1"/>
              <a:t>Overbounding</a:t>
            </a:r>
            <a:br>
              <a:rPr lang="en-US" sz="3000"/>
            </a:br>
            <a:endParaRPr lang="en-US" sz="3000"/>
          </a:p>
        </p:txBody>
      </p:sp>
      <p:sp>
        <p:nvSpPr>
          <p:cNvPr id="55" name="Text Box 402">
            <a:extLst>
              <a:ext uri="{FF2B5EF4-FFF2-40B4-BE49-F238E27FC236}">
                <a16:creationId xmlns:a16="http://schemas.microsoft.com/office/drawing/2014/main" id="{32C3B23C-E5EC-0AA5-155D-B0EAFF1E3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476" y="16817485"/>
            <a:ext cx="8265867" cy="2017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28600" tIns="45267" rIns="457200" bIns="45267" anchor="t">
            <a:noAutofit/>
          </a:bodyPr>
          <a:lstStyle>
            <a:lvl1pPr marL="571500" indent="-5715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314450" indent="-4572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5000"/>
              </a:spcBef>
            </a:pPr>
            <a:endParaRPr lang="en-US" sz="3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Calibration</a:t>
            </a:r>
            <a:r>
              <a:rPr lang="en-US" sz="32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resulted in a piecewise correction reducing </a:t>
            </a:r>
            <a:r>
              <a:rPr lang="en-US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MAE</a:t>
            </a:r>
            <a:r>
              <a:rPr lang="en-US" sz="32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from 0.110 m to 0.058m</a:t>
            </a:r>
            <a:endParaRPr lang="en-US" altLang="en-US" sz="3200" b="0">
              <a:solidFill>
                <a:schemeClr val="tx1"/>
              </a:solidFill>
              <a:latin typeface="Calibri"/>
              <a:cs typeface="Calibri"/>
            </a:endParaRP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sz="32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Current single sided TWR firmware causes discrete bucketed measurements</a:t>
            </a: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sz="32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Rigorous calibration using high precision GNSS receivers is necessary before meaningful improvements to integrity</a:t>
            </a:r>
            <a:endParaRPr lang="en-US" altLang="en-US" sz="3200" b="0">
              <a:solidFill>
                <a:schemeClr val="tx1"/>
              </a:solidFill>
              <a:latin typeface="Calibri"/>
              <a:cs typeface="Calibri"/>
            </a:endParaRP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Scheduling SS-TWR Firmware can provide synched data necessary to extract </a:t>
            </a:r>
            <a:r>
              <a:rPr lang="en-US" altLang="en-US" sz="3200">
                <a:solidFill>
                  <a:schemeClr val="tx1"/>
                </a:solidFill>
                <a:latin typeface="Calibri"/>
                <a:cs typeface="Calibri"/>
              </a:rPr>
              <a:t>pose</a:t>
            </a: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, but reduces sampling frequency</a:t>
            </a: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sz="32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Long-range SS-TWR is feasible on commercial UWB hardware, but </a:t>
            </a:r>
            <a:r>
              <a:rPr lang="en-US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increases</a:t>
            </a:r>
            <a:r>
              <a:rPr lang="en-US" sz="32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airtime and scheduling load</a:t>
            </a:r>
            <a:endParaRPr lang="en-US" altLang="en-US" sz="3200" b="0">
              <a:solidFill>
                <a:schemeClr val="tx1"/>
              </a:solidFill>
              <a:latin typeface="Calibri"/>
              <a:cs typeface="Calibri"/>
            </a:endParaRP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endParaRPr lang="en-US" altLang="en-US" sz="3200" b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4D165-E664-AA24-2813-1E8C25B69916}"/>
              </a:ext>
            </a:extLst>
          </p:cNvPr>
          <p:cNvSpPr/>
          <p:nvPr/>
        </p:nvSpPr>
        <p:spPr>
          <a:xfrm>
            <a:off x="19136962" y="5205213"/>
            <a:ext cx="1701251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ct val="25000"/>
              </a:spcBef>
            </a:pPr>
            <a:r>
              <a:rPr lang="en-US" altLang="en-US" sz="3200" b="1">
                <a:latin typeface="Calibri"/>
                <a:cs typeface="Calibri"/>
              </a:rPr>
              <a:t>Research Objective: </a:t>
            </a:r>
            <a:r>
              <a:rPr lang="en-US" sz="3200">
                <a:latin typeface="Calibri"/>
                <a:ea typeface="Calibri"/>
                <a:cs typeface="Calibri"/>
              </a:rPr>
              <a:t>Develop a collaborative navigation framework </a:t>
            </a:r>
            <a:r>
              <a:rPr lang="en-US" sz="3200" b="1">
                <a:latin typeface="Calibri"/>
                <a:ea typeface="Calibri"/>
                <a:cs typeface="Calibri"/>
              </a:rPr>
              <a:t>using intervehicle UWB cross links</a:t>
            </a:r>
            <a:r>
              <a:rPr lang="en-US" sz="3200">
                <a:latin typeface="Calibri"/>
                <a:ea typeface="Calibri"/>
                <a:cs typeface="Calibri"/>
              </a:rPr>
              <a:t> and characterize UWB measurement errors for future state-estimator integration in GNSS-degraded environments.</a:t>
            </a:r>
            <a:endParaRPr lang="en-US" sz="6450">
              <a:latin typeface="Calibri"/>
              <a:ea typeface="Calibri"/>
              <a:cs typeface="Calibri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4FCF64-7DA4-76D4-AE87-6004FA6B7A98}"/>
              </a:ext>
            </a:extLst>
          </p:cNvPr>
          <p:cNvCxnSpPr>
            <a:cxnSpLocks/>
          </p:cNvCxnSpPr>
          <p:nvPr/>
        </p:nvCxnSpPr>
        <p:spPr>
          <a:xfrm>
            <a:off x="23089445" y="18064528"/>
            <a:ext cx="0" cy="515745"/>
          </a:xfrm>
          <a:prstGeom prst="straightConnector1">
            <a:avLst/>
          </a:prstGeom>
          <a:ln w="38100">
            <a:solidFill>
              <a:srgbClr val="8E2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E627004-3270-763F-66B1-6C91944147EA}"/>
              </a:ext>
            </a:extLst>
          </p:cNvPr>
          <p:cNvCxnSpPr>
            <a:cxnSpLocks/>
          </p:cNvCxnSpPr>
          <p:nvPr/>
        </p:nvCxnSpPr>
        <p:spPr>
          <a:xfrm>
            <a:off x="20917437" y="21122104"/>
            <a:ext cx="0" cy="515745"/>
          </a:xfrm>
          <a:prstGeom prst="straightConnector1">
            <a:avLst/>
          </a:prstGeom>
          <a:ln w="38100">
            <a:solidFill>
              <a:srgbClr val="8E2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14F57E-4A61-25D9-1B13-14E072E3A951}"/>
              </a:ext>
            </a:extLst>
          </p:cNvPr>
          <p:cNvCxnSpPr>
            <a:cxnSpLocks/>
          </p:cNvCxnSpPr>
          <p:nvPr/>
        </p:nvCxnSpPr>
        <p:spPr>
          <a:xfrm>
            <a:off x="25222019" y="21127697"/>
            <a:ext cx="0" cy="515745"/>
          </a:xfrm>
          <a:prstGeom prst="straightConnector1">
            <a:avLst/>
          </a:prstGeom>
          <a:ln w="38100">
            <a:solidFill>
              <a:srgbClr val="8E2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6797E25-4EBD-99FA-39AA-FC93DC01082E}"/>
              </a:ext>
            </a:extLst>
          </p:cNvPr>
          <p:cNvCxnSpPr>
            <a:cxnSpLocks/>
          </p:cNvCxnSpPr>
          <p:nvPr/>
        </p:nvCxnSpPr>
        <p:spPr>
          <a:xfrm>
            <a:off x="23070020" y="25214408"/>
            <a:ext cx="0" cy="266529"/>
          </a:xfrm>
          <a:prstGeom prst="straightConnector1">
            <a:avLst/>
          </a:prstGeom>
          <a:ln w="38100">
            <a:solidFill>
              <a:srgbClr val="8E2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CC246A9-4A23-0915-86C4-878DB6E4BD29}"/>
              </a:ext>
            </a:extLst>
          </p:cNvPr>
          <p:cNvCxnSpPr>
            <a:cxnSpLocks/>
          </p:cNvCxnSpPr>
          <p:nvPr/>
        </p:nvCxnSpPr>
        <p:spPr>
          <a:xfrm>
            <a:off x="23067202" y="26309783"/>
            <a:ext cx="0" cy="608795"/>
          </a:xfrm>
          <a:prstGeom prst="straightConnector1">
            <a:avLst/>
          </a:prstGeom>
          <a:ln w="38100">
            <a:solidFill>
              <a:srgbClr val="8E2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62BA51F-E005-2533-3D42-E843011246B9}"/>
              </a:ext>
            </a:extLst>
          </p:cNvPr>
          <p:cNvCxnSpPr>
            <a:cxnSpLocks/>
          </p:cNvCxnSpPr>
          <p:nvPr/>
        </p:nvCxnSpPr>
        <p:spPr>
          <a:xfrm>
            <a:off x="20917437" y="24955328"/>
            <a:ext cx="0" cy="266529"/>
          </a:xfrm>
          <a:prstGeom prst="straightConnector1">
            <a:avLst/>
          </a:prstGeom>
          <a:ln w="38100" cap="rnd">
            <a:solidFill>
              <a:srgbClr val="8E234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7BB83D1-C29E-A944-6234-445E1ECB7DD5}"/>
              </a:ext>
            </a:extLst>
          </p:cNvPr>
          <p:cNvCxnSpPr>
            <a:cxnSpLocks/>
          </p:cNvCxnSpPr>
          <p:nvPr/>
        </p:nvCxnSpPr>
        <p:spPr>
          <a:xfrm>
            <a:off x="25222019" y="24955328"/>
            <a:ext cx="0" cy="266529"/>
          </a:xfrm>
          <a:prstGeom prst="straightConnector1">
            <a:avLst/>
          </a:prstGeom>
          <a:ln w="38100" cap="rnd">
            <a:solidFill>
              <a:srgbClr val="8E234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855FF4-F7BE-ECC9-184A-BB6A77644CC9}"/>
              </a:ext>
            </a:extLst>
          </p:cNvPr>
          <p:cNvCxnSpPr>
            <a:cxnSpLocks/>
          </p:cNvCxnSpPr>
          <p:nvPr/>
        </p:nvCxnSpPr>
        <p:spPr>
          <a:xfrm flipH="1">
            <a:off x="20917437" y="25229477"/>
            <a:ext cx="4304583" cy="0"/>
          </a:xfrm>
          <a:prstGeom prst="straightConnector1">
            <a:avLst/>
          </a:prstGeom>
          <a:ln w="38100" cap="rnd">
            <a:solidFill>
              <a:srgbClr val="8E234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0F6EA51-D31B-AE3C-A541-635FAB52AF82}"/>
              </a:ext>
            </a:extLst>
          </p:cNvPr>
          <p:cNvCxnSpPr>
            <a:cxnSpLocks/>
          </p:cNvCxnSpPr>
          <p:nvPr/>
        </p:nvCxnSpPr>
        <p:spPr>
          <a:xfrm>
            <a:off x="20913361" y="19939061"/>
            <a:ext cx="0" cy="552852"/>
          </a:xfrm>
          <a:prstGeom prst="straightConnector1">
            <a:avLst/>
          </a:prstGeom>
          <a:ln w="38100">
            <a:solidFill>
              <a:srgbClr val="E597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45A4548-F1B3-4856-FF55-F6EF0918948D}"/>
              </a:ext>
            </a:extLst>
          </p:cNvPr>
          <p:cNvCxnSpPr>
            <a:cxnSpLocks/>
          </p:cNvCxnSpPr>
          <p:nvPr/>
        </p:nvCxnSpPr>
        <p:spPr>
          <a:xfrm>
            <a:off x="25222019" y="19948371"/>
            <a:ext cx="0" cy="515745"/>
          </a:xfrm>
          <a:prstGeom prst="straightConnector1">
            <a:avLst/>
          </a:prstGeom>
          <a:ln w="38100">
            <a:solidFill>
              <a:srgbClr val="E597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3FD3328-0AD4-E8FD-79BB-6AE7409B5DE2}"/>
              </a:ext>
            </a:extLst>
          </p:cNvPr>
          <p:cNvSpPr/>
          <p:nvPr/>
        </p:nvSpPr>
        <p:spPr>
          <a:xfrm>
            <a:off x="18781613" y="16955276"/>
            <a:ext cx="18473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000" i="1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F949F201-5D2D-45C7-B899-22A1B2455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421" y="10117859"/>
            <a:ext cx="4384059" cy="2702999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B307BC9C-95CA-3A81-4F38-3157EB71CD09}"/>
              </a:ext>
            </a:extLst>
          </p:cNvPr>
          <p:cNvSpPr txBox="1"/>
          <p:nvPr/>
        </p:nvSpPr>
        <p:spPr>
          <a:xfrm>
            <a:off x="9415781" y="13147207"/>
            <a:ext cx="43840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Spoofing captures GNSS tracking, then drags the reported position away from truth; live yacht tests showed a false position near Libya.</a:t>
            </a:r>
            <a:r>
              <a:rPr lang="en-US" sz="1600" baseline="-25000"/>
              <a:t>[</a:t>
            </a:r>
            <a:r>
              <a:rPr lang="en-US" sz="1600" baseline="-25000" err="1"/>
              <a:t>Psiaki</a:t>
            </a:r>
            <a:r>
              <a:rPr lang="en-US" sz="1600" baseline="-25000"/>
              <a:t>]</a:t>
            </a:r>
            <a:r>
              <a:rPr lang="en-US" sz="2000"/>
              <a:t> </a:t>
            </a:r>
          </a:p>
        </p:txBody>
      </p:sp>
      <p:pic>
        <p:nvPicPr>
          <p:cNvPr id="91" name="Picture 90" descr="A diagram of a triangle with lines and points&#10;&#10;AI-generated content may be incorrect.">
            <a:extLst>
              <a:ext uri="{FF2B5EF4-FFF2-40B4-BE49-F238E27FC236}">
                <a16:creationId xmlns:a16="http://schemas.microsoft.com/office/drawing/2014/main" id="{5D4F06A1-4B48-6FC9-EB67-0BE8979361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42" t="4441" r="453" b="168"/>
          <a:stretch>
            <a:fillRect/>
          </a:stretch>
        </p:blipFill>
        <p:spPr>
          <a:xfrm>
            <a:off x="19166190" y="7083633"/>
            <a:ext cx="5245838" cy="4064981"/>
          </a:xfrm>
          <a:prstGeom prst="rect">
            <a:avLst/>
          </a:prstGeom>
        </p:spPr>
      </p:pic>
      <p:pic>
        <p:nvPicPr>
          <p:cNvPr id="93" name="Picture 92" descr="A red and blue line with a triangle and a red arrow&#10;&#10;AI-generated content may be incorrect.">
            <a:extLst>
              <a:ext uri="{FF2B5EF4-FFF2-40B4-BE49-F238E27FC236}">
                <a16:creationId xmlns:a16="http://schemas.microsoft.com/office/drawing/2014/main" id="{C9E5B625-5F3B-B31B-6EBE-F345ACEA8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46764" y="7082917"/>
            <a:ext cx="2790116" cy="2238375"/>
          </a:xfrm>
          <a:prstGeom prst="rect">
            <a:avLst/>
          </a:prstGeom>
        </p:spPr>
      </p:pic>
      <p:pic>
        <p:nvPicPr>
          <p:cNvPr id="95" name="Picture 94" descr="A black and white image of a symbol&#10;&#10;AI-generated content may be incorrect.">
            <a:extLst>
              <a:ext uri="{FF2B5EF4-FFF2-40B4-BE49-F238E27FC236}">
                <a16:creationId xmlns:a16="http://schemas.microsoft.com/office/drawing/2014/main" id="{02ABDFBD-2B26-B3D2-4B7F-4666ABCF2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42524" y="9916623"/>
            <a:ext cx="2777520" cy="749063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145D7309-2C3D-198A-5AAC-30E68899201E}"/>
              </a:ext>
            </a:extLst>
          </p:cNvPr>
          <p:cNvSpPr txBox="1"/>
          <p:nvPr/>
        </p:nvSpPr>
        <p:spPr>
          <a:xfrm>
            <a:off x="19170759" y="13603114"/>
            <a:ext cx="847106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Proposed work</a:t>
            </a:r>
            <a:r>
              <a:rPr lang="en-US" sz="3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Evaluate if UWBs are adequate sensors to serve as crosslinks in collaborative automotive navigation scenarios </a:t>
            </a:r>
            <a:endParaRPr lang="en-US" sz="645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EE09280-25A0-3B8A-6ADD-056533EE8C7E}"/>
              </a:ext>
            </a:extLst>
          </p:cNvPr>
          <p:cNvSpPr txBox="1"/>
          <p:nvPr/>
        </p:nvSpPr>
        <p:spPr>
          <a:xfrm>
            <a:off x="20398165" y="27112027"/>
            <a:ext cx="5631670" cy="553998"/>
          </a:xfrm>
          <a:prstGeom prst="rect">
            <a:avLst/>
          </a:prstGeom>
          <a:noFill/>
        </p:spPr>
        <p:txBody>
          <a:bodyPr wrap="none" lIns="45720" rtlCol="0">
            <a:noAutofit/>
          </a:bodyPr>
          <a:lstStyle/>
          <a:p>
            <a:pPr algn="ctr"/>
            <a:endParaRPr lang="en-US" sz="3000" b="1">
              <a:solidFill>
                <a:srgbClr val="F9DCC7"/>
              </a:solidFill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9EB4ABDE-4E09-FB16-04AA-998939EE53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30192" y="11566057"/>
            <a:ext cx="6010275" cy="1581150"/>
          </a:xfrm>
          <a:prstGeom prst="rect">
            <a:avLst/>
          </a:prstGeom>
        </p:spPr>
      </p:pic>
      <p:pic>
        <p:nvPicPr>
          <p:cNvPr id="103" name="Picture 102" descr="A white truck parked in a parking lot&#10;&#10;AI-generated content may be incorrect.">
            <a:extLst>
              <a:ext uri="{FF2B5EF4-FFF2-40B4-BE49-F238E27FC236}">
                <a16:creationId xmlns:a16="http://schemas.microsoft.com/office/drawing/2014/main" id="{AC656634-0DFD-38E3-9B4A-90686D2A2F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1168" y="22718066"/>
            <a:ext cx="7071191" cy="5100461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1CCF1271-7170-9D0D-737E-C45BF9D9C02B}"/>
              </a:ext>
            </a:extLst>
          </p:cNvPr>
          <p:cNvSpPr txBox="1"/>
          <p:nvPr/>
        </p:nvSpPr>
        <p:spPr>
          <a:xfrm>
            <a:off x="27879218" y="17847953"/>
            <a:ext cx="8015596" cy="98180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milestones include:  </a:t>
            </a:r>
          </a:p>
          <a:p>
            <a:pPr marL="857250" lvl="1" indent="-514350">
              <a:spcBef>
                <a:spcPct val="25000"/>
              </a:spcBef>
              <a:buFont typeface="+mj-lt"/>
              <a:buAutoNum type="arabicPeriod"/>
            </a:pPr>
            <a:r>
              <a:rPr lang="en-US" altLang="en-US" sz="3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UWB sensor options and limits: range, calibration sensitivity, and scheduling constraints;</a:t>
            </a:r>
          </a:p>
          <a:p>
            <a:pPr marL="857250" lvl="1" indent="-514350">
              <a:spcBef>
                <a:spcPct val="25000"/>
              </a:spcBef>
              <a:buFont typeface="+mj-lt"/>
              <a:buAutoNum type="arabicPeriod"/>
            </a:pPr>
            <a:r>
              <a:rPr lang="en-US" altLang="en-US" sz="3200">
                <a:solidFill>
                  <a:schemeClr val="tx1"/>
                </a:solidFill>
                <a:latin typeface="Calibri"/>
                <a:cs typeface="Calibri"/>
              </a:rPr>
              <a:t>extended</a:t>
            </a: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 practical UWB operation from about 31 m to 110 m and implemented a scheduled ranging framework</a:t>
            </a:r>
          </a:p>
          <a:p>
            <a:pPr marL="857250" lvl="1" indent="-514350">
              <a:spcBef>
                <a:spcPct val="25000"/>
              </a:spcBef>
              <a:buFont typeface="+mj-lt"/>
              <a:buAutoNum type="arabicPeriod"/>
            </a:pPr>
            <a:r>
              <a:rPr lang="en-US" altLang="en-US" sz="3200">
                <a:solidFill>
                  <a:schemeClr val="tx1"/>
                </a:solidFill>
                <a:latin typeface="Calibri"/>
                <a:cs typeface="Calibri"/>
              </a:rPr>
              <a:t>linear</a:t>
            </a: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 correction reduced cross-validation </a:t>
            </a:r>
            <a:r>
              <a:rPr lang="en-US" altLang="en-US" sz="3200">
                <a:solidFill>
                  <a:schemeClr val="tx1"/>
                </a:solidFill>
                <a:latin typeface="Calibri"/>
                <a:cs typeface="Calibri"/>
              </a:rPr>
              <a:t>MAE from</a:t>
            </a: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 0.110 m to 0.058 m;</a:t>
            </a:r>
          </a:p>
          <a:p>
            <a:pPr marL="857250" lvl="1" indent="-514350">
              <a:spcBef>
                <a:spcPct val="25000"/>
              </a:spcBef>
              <a:buFont typeface="+mj-lt"/>
              <a:buAutoNum type="arabicPeriod"/>
            </a:pPr>
            <a:r>
              <a:rPr lang="en-US" altLang="en-US" sz="3200">
                <a:solidFill>
                  <a:schemeClr val="tx1"/>
                </a:solidFill>
                <a:latin typeface="Calibri"/>
                <a:cs typeface="Calibri"/>
              </a:rPr>
              <a:t> explored</a:t>
            </a:r>
            <a:r>
              <a:rPr lang="en-US" altLang="en-US" sz="3200" b="0">
                <a:solidFill>
                  <a:schemeClr val="tx1"/>
                </a:solidFill>
                <a:latin typeface="Calibri"/>
                <a:cs typeface="Calibri"/>
              </a:rPr>
              <a:t> multi-transceiver geometries in simulation to </a:t>
            </a:r>
            <a:r>
              <a:rPr lang="en-US" altLang="en-US" sz="3200" b="1">
                <a:solidFill>
                  <a:schemeClr val="tx1"/>
                </a:solidFill>
                <a:latin typeface="Calibri"/>
                <a:cs typeface="Calibri"/>
              </a:rPr>
              <a:t>estimate relative range and heading</a:t>
            </a:r>
          </a:p>
          <a:p>
            <a:pPr marL="857250" lvl="1" indent="-514350">
              <a:spcBef>
                <a:spcPct val="25000"/>
              </a:spcBef>
              <a:buFont typeface="+mj-lt"/>
              <a:buAutoNum type="arabicPeriod"/>
            </a:pPr>
            <a:endParaRPr lang="en-US" altLang="en-US" sz="32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Remaining work </a:t>
            </a:r>
            <a:r>
              <a:rPr lang="en-US" altLang="en-US" sz="3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 focus replicating simulated configuration for range and heading with UWB roof mounts</a:t>
            </a:r>
          </a:p>
          <a:p>
            <a:pPr marL="457200" indent="-457200">
              <a:spcBef>
                <a:spcPct val="25000"/>
              </a:spcBef>
              <a:buFont typeface="Arial" panose="020B0604020202020204" pitchFamily="34" charset="0"/>
              <a:buChar char="•"/>
            </a:pPr>
            <a:r>
              <a:rPr lang="en-US" altLang="en-US" sz="3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Building the noise and measurement model for the estimator.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306513-A0BD-7034-CCAA-937A0417E30E}"/>
              </a:ext>
            </a:extLst>
          </p:cNvPr>
          <p:cNvSpPr txBox="1"/>
          <p:nvPr/>
        </p:nvSpPr>
        <p:spPr>
          <a:xfrm>
            <a:off x="33795478" y="28682302"/>
            <a:ext cx="184731" cy="1085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18" name="CARNATIONS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86" y="28102706"/>
            <a:ext cx="5371593" cy="1235722"/>
          </a:xfrm>
          <a:prstGeom prst="rect">
            <a:avLst/>
          </a:prstGeom>
        </p:spPr>
      </p:pic>
      <p:pic>
        <p:nvPicPr>
          <p:cNvPr id="119" name="AVA Lab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10427" y="27865583"/>
            <a:ext cx="2939049" cy="1633438"/>
          </a:xfrm>
          <a:prstGeom prst="rect">
            <a:avLst/>
          </a:prstGeom>
        </p:spPr>
      </p:pic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A52C610D-915B-BE26-286A-115F6B313F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7728" y="25143604"/>
            <a:ext cx="8494722" cy="2767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159F23-0527-0EC3-88A6-24C0A16BA54A}"/>
              </a:ext>
            </a:extLst>
          </p:cNvPr>
          <p:cNvSpPr txBox="1"/>
          <p:nvPr/>
        </p:nvSpPr>
        <p:spPr>
          <a:xfrm>
            <a:off x="9355445" y="887761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9546C-F1B1-5EBE-E5E0-B3C4A9F8444A}"/>
              </a:ext>
            </a:extLst>
          </p:cNvPr>
          <p:cNvSpPr txBox="1"/>
          <p:nvPr/>
        </p:nvSpPr>
        <p:spPr>
          <a:xfrm>
            <a:off x="24463951" y="10650661"/>
            <a:ext cx="393543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r - relative position of the origin of body frame 2 in frame 1 </a:t>
            </a:r>
          </a:p>
          <a:p>
            <a:r>
              <a:rPr lang="en-US" sz="1000"/>
              <a:t>Ψ - angle between vehicle 1 forward axis and vehicle 2 forward axis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DD614-EE2A-A0E0-2419-7710C2D492A1}"/>
              </a:ext>
            </a:extLst>
          </p:cNvPr>
          <p:cNvSpPr txBox="1"/>
          <p:nvPr/>
        </p:nvSpPr>
        <p:spPr>
          <a:xfrm>
            <a:off x="24713371" y="9317479"/>
            <a:ext cx="314934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Relative heading vector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83016F-3733-E0CC-7F4D-8E6E4E2D1C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868" y="17748679"/>
            <a:ext cx="8557961" cy="4281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18A159-71E4-2333-7B73-085FE6CB8D0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0751" r="51832"/>
          <a:stretch/>
        </p:blipFill>
        <p:spPr>
          <a:xfrm>
            <a:off x="8750743" y="5407957"/>
            <a:ext cx="5177718" cy="352028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A57C802-A185-16EE-23B6-A47E09E68F3E}"/>
              </a:ext>
            </a:extLst>
          </p:cNvPr>
          <p:cNvSpPr/>
          <p:nvPr/>
        </p:nvSpPr>
        <p:spPr>
          <a:xfrm>
            <a:off x="9178198" y="8979493"/>
            <a:ext cx="44988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en-US" sz="200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2000" b="1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unsolved mystery </a:t>
            </a:r>
            <a:r>
              <a:rPr lang="en-US" altLang="en-US" sz="200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</a:t>
            </a:r>
            <a:br>
              <a:rPr lang="en-US" altLang="en-US" sz="200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i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October 17-18, 2022 Texas interference that caused a DFW runway shutdown</a:t>
            </a:r>
            <a:endParaRPr lang="en-US" sz="2000" i="1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986273-B513-88EE-767E-A20668EEE5A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7904"/>
          <a:stretch>
            <a:fillRect/>
          </a:stretch>
        </p:blipFill>
        <p:spPr>
          <a:xfrm>
            <a:off x="14010165" y="7599695"/>
            <a:ext cx="3687178" cy="606331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AF1C04B-DA70-ED65-03C2-EE4C5B6915FD}"/>
              </a:ext>
            </a:extLst>
          </p:cNvPr>
          <p:cNvSpPr txBox="1"/>
          <p:nvPr/>
        </p:nvSpPr>
        <p:spPr>
          <a:xfrm>
            <a:off x="14107220" y="13962815"/>
            <a:ext cx="3621618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-25000"/>
              <a:t>Phone locations in </a:t>
            </a:r>
            <a:r>
              <a:rPr lang="en-US" sz="2000" b="1" baseline="-25000"/>
              <a:t>Israel</a:t>
            </a:r>
            <a:r>
              <a:rPr lang="en-US" sz="2000" baseline="-25000"/>
              <a:t> being spoofed to show </a:t>
            </a:r>
            <a:r>
              <a:rPr lang="en-US" sz="2000" b="1" baseline="-25000"/>
              <a:t>Beirut</a:t>
            </a:r>
            <a:r>
              <a:rPr lang="en-US" sz="2000" baseline="-25000"/>
              <a:t>.</a:t>
            </a:r>
            <a:r>
              <a:rPr lang="en-US" sz="1800" baseline="-25000"/>
              <a:t>[</a:t>
            </a:r>
            <a:r>
              <a:rPr lang="en-US" sz="1800" baseline="-25000" err="1"/>
              <a:t>Psiaki</a:t>
            </a:r>
            <a:r>
              <a:rPr lang="en-US" sz="1800" baseline="-25000"/>
              <a:t>]</a:t>
            </a:r>
            <a:endParaRPr lang="en-US" sz="2000" baseline="-25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A7B219-ABA3-9C2E-BD8A-E4AF697A780D}"/>
              </a:ext>
            </a:extLst>
          </p:cNvPr>
          <p:cNvSpPr txBox="1"/>
          <p:nvPr/>
        </p:nvSpPr>
        <p:spPr>
          <a:xfrm>
            <a:off x="19211797" y="11096250"/>
            <a:ext cx="525642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alibri"/>
                <a:ea typeface="Calibri"/>
                <a:cs typeface="Calibri"/>
              </a:rPr>
              <a:t>Multi-sensor configuration to extract relative heading and position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2CB682-4F25-CB11-1080-124FA2E40B7A}"/>
              </a:ext>
            </a:extLst>
          </p:cNvPr>
          <p:cNvSpPr txBox="1"/>
          <p:nvPr/>
        </p:nvSpPr>
        <p:spPr>
          <a:xfrm>
            <a:off x="20434923" y="13144062"/>
            <a:ext cx="596055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alibri"/>
                <a:ea typeface="Calibri"/>
                <a:cs typeface="Calibri"/>
              </a:rPr>
              <a:t>Measurement model used to calculate relative pose</a:t>
            </a:r>
          </a:p>
        </p:txBody>
      </p:sp>
      <p:pic>
        <p:nvPicPr>
          <p:cNvPr id="36" name="Picture 35" descr="A collage of multiple images of fireworks&#10;&#10;AI-generated content may be incorrect.">
            <a:extLst>
              <a:ext uri="{FF2B5EF4-FFF2-40B4-BE49-F238E27FC236}">
                <a16:creationId xmlns:a16="http://schemas.microsoft.com/office/drawing/2014/main" id="{94168CDC-4984-6FB9-0BCF-8904B912778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28237"/>
          <a:stretch>
            <a:fillRect/>
          </a:stretch>
        </p:blipFill>
        <p:spPr>
          <a:xfrm>
            <a:off x="14011146" y="5516227"/>
            <a:ext cx="3870197" cy="165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635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7AFDC5-5BCF-094F-898D-D8C93C0D46B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8e058b8-33a3-4848-8c8f-d18b119818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Joerger, Mathieu</dc:creator>
  <cp:lastModifiedBy>Mahajan, Malhar</cp:lastModifiedBy>
  <cp:revision>2</cp:revision>
  <dcterms:modified xsi:type="dcterms:W3CDTF">2026-04-25T02:33:02Z</dcterms:modified>
</cp:coreProperties>
</file>